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8412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Warden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9C1C6B"/>
                </a:solidFill>
                <a:latin typeface="Calibri"/>
              </a:rPr>
              <a:t>the AI Firewall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463040" cy="50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An AI firewall for RAG and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5D9E0"/>
                </a:solidFill>
                <a:latin typeface="Calibri"/>
              </a:rPr>
              <a:t>Secure a RAG chatbot and its agent. 40 attacks, and the numbers to prove it.</a:t>
            </a:r>
          </a:p>
        </p:txBody>
      </p:sp>
      <p:pic>
        <p:nvPicPr>
          <p:cNvPr id="8" name="Picture 7" descr="Haseeb form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735" y="1737360"/>
            <a:ext cx="201168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82735" y="502920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Haseebullah Shaikh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 Victims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5D9E0"/>
                </a:solidFill>
                <a:latin typeface="Calibri"/>
              </a:rPr>
              <a:t>Data Victims  |  datavictims.io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D5D9E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1821"/>
                </a:solidFill>
                <a:latin typeface="Calibri"/>
              </a:rPr>
              <a:t>Every company shipped an AI assistant. Almost nobody secured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463040" cy="50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B6470"/>
                </a:solidFill>
                <a:latin typeface="Calibri"/>
              </a:rPr>
              <a:t>Peoplecraft HR runs an HR chatbot with an agent that can look up staff, change payroll and email documents. It works. No security team went near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324612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4767" cy="22860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8895" y="3191256"/>
            <a:ext cx="264901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Outsiders can talk to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8895" y="3630168"/>
            <a:ext cx="264901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A candidate's CV or a web page it reads is pasted into the prompt. A hidden line becomes an instruction.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063240"/>
            <a:ext cx="324612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43400" y="3063240"/>
            <a:ext cx="194767" cy="22860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9335" y="3191256"/>
            <a:ext cx="264901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Retrieval ignores who is 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9335" y="3630168"/>
            <a:ext cx="264901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A recruiter, a manager and a payroll officer all get the same answers. Permissions are gone.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063240"/>
            <a:ext cx="324612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863840" y="3063240"/>
            <a:ext cx="194767" cy="22860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9775" y="3191256"/>
            <a:ext cx="264901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The agent can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9775" y="3630168"/>
            <a:ext cx="264901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It can email a file out or change pay. An injection doesn't leak data, it does something.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Data Victims  |  datavictims.io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821"/>
                </a:solidFill>
                <a:latin typeface="Calibri"/>
              </a:rPr>
              <a:t>The attack that makes people sit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463040" cy="50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01752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81051" cy="1828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5179" y="2414016"/>
            <a:ext cx="243413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A candidate uploads a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5179" y="2852928"/>
            <a:ext cx="2434133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It reads like a normal CV. Buried in it is a line addressed to the assistant, not to a person.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50208" y="2926080"/>
            <a:ext cx="457200" cy="502920"/>
          </a:xfrm>
          <a:prstGeom prst="rightArrow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01752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26280" y="2286000"/>
            <a:ext cx="181051" cy="1828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8499" y="2414016"/>
            <a:ext cx="243413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A recruiter asks a normal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8499" y="2852928"/>
            <a:ext cx="2434133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About the candidate. They never see the buried line. The model does.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53528" y="2926080"/>
            <a:ext cx="457200" cy="502920"/>
          </a:xfrm>
          <a:prstGeom prst="rightArrow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229600" y="2286000"/>
            <a:ext cx="301752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229600" y="2286000"/>
            <a:ext cx="181051" cy="1828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1819" y="2414016"/>
            <a:ext cx="243413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The agent acts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1819" y="2852928"/>
            <a:ext cx="2434133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It tries to email the payroll file to an outside address. Nobody typed that.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9C1C6B"/>
                </a:solidFill>
                <a:latin typeface="Calibri"/>
              </a:rPr>
              <a:t>Nobody stole a password. A candidate sent in a CV.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Data Victims  |  datavictims.io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1821"/>
                </a:solidFill>
                <a:latin typeface="Calibri"/>
              </a:rPr>
              <a:t>One gateway, eight controls, in front of the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463040" cy="50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470"/>
                </a:solidFill>
                <a:latin typeface="Calibri"/>
              </a:rPr>
              <a:t>The app is not changed. The team that built it keeps their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56032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53619" cy="12984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7747" y="2231136"/>
            <a:ext cx="20043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21"/>
                </a:solidFill>
                <a:latin typeface="Calibri"/>
              </a:rPr>
              <a:t>W1  fast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7747" y="2523744"/>
            <a:ext cx="2004365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Cheap pattern rules on every input and document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03120"/>
            <a:ext cx="256032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566160" y="2103120"/>
            <a:ext cx="153619" cy="12984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20947" y="2231136"/>
            <a:ext cx="20043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21"/>
                </a:solidFill>
                <a:latin typeface="Calibri"/>
              </a:rPr>
              <a:t>W2  injection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0947" y="2523744"/>
            <a:ext cx="2004365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Prompt Guard: score text for injection intent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03120"/>
            <a:ext cx="256032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09360" y="2103120"/>
            <a:ext cx="153619" cy="12984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4147" y="2231136"/>
            <a:ext cx="20043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21"/>
                </a:solidFill>
                <a:latin typeface="Calibri"/>
              </a:rPr>
              <a:t>W3  harm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4147" y="2523744"/>
            <a:ext cx="2004365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Llama Guard: classify harmful requests and answers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103120"/>
            <a:ext cx="256032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52560" y="2103120"/>
            <a:ext cx="153619" cy="12984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7347" y="2231136"/>
            <a:ext cx="20043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21"/>
                </a:solidFill>
                <a:latin typeface="Calibri"/>
              </a:rPr>
              <a:t>W4  ingest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7347" y="2523744"/>
            <a:ext cx="2004365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Scan documents and mask PII BEFORE indexing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566160"/>
            <a:ext cx="256032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22960" y="3566160"/>
            <a:ext cx="153619" cy="12984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7747" y="3694176"/>
            <a:ext cx="20043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21"/>
                </a:solidFill>
                <a:latin typeface="Calibri"/>
              </a:rPr>
              <a:t>W5  permission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747" y="3986784"/>
            <a:ext cx="2004365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Only retrieve chunks the caller may read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3566160"/>
            <a:ext cx="256032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566160" y="3566160"/>
            <a:ext cx="153619" cy="12984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20947" y="3694176"/>
            <a:ext cx="20043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21"/>
                </a:solidFill>
                <a:latin typeface="Calibri"/>
              </a:rPr>
              <a:t>W6  output 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0947" y="3986784"/>
            <a:ext cx="2004365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Catch cards, NI numbers, bank details, keys, beacons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566160"/>
            <a:ext cx="256032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309360" y="3566160"/>
            <a:ext cx="153619" cy="12984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4147" y="3694176"/>
            <a:ext cx="20043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21"/>
                </a:solidFill>
                <a:latin typeface="Calibri"/>
              </a:rPr>
              <a:t>W7  canary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4147" y="3986784"/>
            <a:ext cx="2004365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Detect a system prompt leak by its canary token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3566160"/>
            <a:ext cx="256032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052560" y="3566160"/>
            <a:ext cx="153619" cy="12984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7347" y="3694176"/>
            <a:ext cx="20043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21"/>
                </a:solidFill>
                <a:latin typeface="Calibri"/>
              </a:rPr>
              <a:t>W8  tool policy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7347" y="3986784"/>
            <a:ext cx="2004365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Allow, block or ask a human for every tool call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Data Victims  |  datavictims.io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Measured, not asserted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463040" cy="50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 i="0">
                <a:solidFill>
                  <a:srgbClr val="B7791F"/>
                </a:solidFill>
                <a:latin typeface="Calibri"/>
              </a:rPr>
              <a:t>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5D9E0"/>
                </a:solidFill>
                <a:latin typeface="Calibri"/>
              </a:rPr>
              <a:t>of attacks breached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5D9E0"/>
                </a:solidFill>
                <a:latin typeface="Calibri"/>
              </a:rPr>
              <a:t>the unprotected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19456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 i="0">
                <a:solidFill>
                  <a:srgbClr val="2E7D5B"/>
                </a:solidFill>
                <a:latin typeface="Calibri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47472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5D9E0"/>
                </a:solidFill>
                <a:latin typeface="Calibri"/>
              </a:rPr>
              <a:t>breached it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5D9E0"/>
                </a:solidFill>
                <a:latin typeface="Calibri"/>
              </a:rPr>
              <a:t>behind Warden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47472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5D9E0"/>
                </a:solidFill>
                <a:latin typeface="Calibri"/>
              </a:rPr>
              <a:t>of normal questions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5D9E0"/>
                </a:solidFill>
                <a:latin typeface="Calibri"/>
              </a:rPr>
              <a:t>still answered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9456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47472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5D9E0"/>
                </a:solidFill>
                <a:latin typeface="Calibri"/>
              </a:rPr>
              <a:t>attacks written and frozen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D5D9E0"/>
                </a:solidFill>
                <a:latin typeface="Calibri"/>
              </a:rPr>
              <a:t>before any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D5D9E0"/>
                </a:solidFill>
                <a:latin typeface="Calibri"/>
              </a:rPr>
              <a:t>The third number matters as much as the second. A gateway that refused everything would score zero attacks and be useless.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5D9E0"/>
                </a:solidFill>
                <a:latin typeface="Calibri"/>
              </a:rPr>
              <a:t>Data Victims  |  datavictims.io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D5D9E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821"/>
                </a:solidFill>
                <a:latin typeface="Calibri"/>
              </a:rPr>
              <a:t>The part most write-ups leave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463040" cy="50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4937760" cy="2743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296265" cy="27432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0393" y="2139696"/>
            <a:ext cx="4239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Detection is not the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393" y="2578608"/>
            <a:ext cx="423915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The injection classifier caught nothing on its own that the other controls didn't already stop. Reworded attacks slip past it. That is the honest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4937760" cy="2743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296265" cy="2743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6793" y="2139696"/>
            <a:ext cx="4239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The structural controls 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6793" y="2578608"/>
            <a:ext cx="423915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Permission-aware retrieval and the tool-call policy don't depend on spotting the attack. An email can only go to the company domain, whatever wording the injection 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9C1C6B"/>
                </a:solidFill>
                <a:latin typeface="Calibri"/>
              </a:rPr>
              <a:t>Input rules catch what you know. Permissions and a tool policy catch what you don't.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Data Victims  |  datavictims.io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821"/>
                </a:solidFill>
                <a:latin typeface="Calibri"/>
              </a:rPr>
              <a:t>Built on free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463040" cy="50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12064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07238" cy="8412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1366" y="204825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821"/>
                </a:solidFill>
                <a:latin typeface="Calibri"/>
              </a:rPr>
              <a:t>Cloudflare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1366" y="232257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B6470"/>
                </a:solidFill>
                <a:latin typeface="Calibri"/>
              </a:rPr>
              <a:t>the gateway at the 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307238" cy="8412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6326" y="204825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821"/>
                </a:solidFill>
                <a:latin typeface="Calibri"/>
              </a:rPr>
              <a:t>Workers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6326" y="232257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B6470"/>
                </a:solidFill>
                <a:latin typeface="Calibri"/>
              </a:rPr>
              <a:t>Llama Guard 3, the chat model, embeddings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80360"/>
            <a:ext cx="512064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22960" y="2880360"/>
            <a:ext cx="307238" cy="8412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1366" y="300837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821"/>
                </a:solidFill>
                <a:latin typeface="Calibri"/>
              </a:rPr>
              <a:t>Vectorize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1366" y="328269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B6470"/>
                </a:solidFill>
                <a:latin typeface="Calibri"/>
              </a:rPr>
              <a:t>retrieval with the permission filter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80360"/>
            <a:ext cx="512064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7920" y="2880360"/>
            <a:ext cx="307238" cy="8412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6326" y="300837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821"/>
                </a:solidFill>
                <a:latin typeface="Calibri"/>
              </a:rPr>
              <a:t>AI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6326" y="328269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B6470"/>
                </a:solidFill>
                <a:latin typeface="Calibri"/>
              </a:rPr>
              <a:t>logs, caching, rate limits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40480"/>
            <a:ext cx="512064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22960" y="3840480"/>
            <a:ext cx="307238" cy="8412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1366" y="396849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821"/>
                </a:solidFill>
                <a:latin typeface="Calibri"/>
              </a:rPr>
              <a:t>Prompt Guard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1366" y="424281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B6470"/>
                </a:solidFill>
                <a:latin typeface="Calibri"/>
              </a:rPr>
              <a:t>injection classifier, on a free Oracle VM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40480"/>
            <a:ext cx="512064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307238" cy="841248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6326" y="396849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821"/>
                </a:solidFill>
                <a:latin typeface="Calibri"/>
              </a:rPr>
              <a:t>Presidio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6326" y="4242816"/>
            <a:ext cx="441106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B6470"/>
                </a:solidFill>
                <a:latin typeface="Calibri"/>
              </a:rPr>
              <a:t>personal data detection, open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7D5B"/>
                </a:solidFill>
                <a:latin typeface="Calibri"/>
              </a:rPr>
              <a:t>Whole build: about 2.31 dollars a month, inside a 0 to 5 dollar budget. The offline half costs nothing.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Data Victims  |  datavictims.io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821"/>
                </a:solidFill>
                <a:latin typeface="Calibri"/>
              </a:rPr>
              <a:t>Who this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463040" cy="50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24612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94767" cy="246888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8895" y="2414016"/>
            <a:ext cx="264901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Security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8895" y="2852928"/>
            <a:ext cx="2649017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You've been handed an AI system to secure and there's no runbook for it. This is the runbook.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286000"/>
            <a:ext cx="324612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3400" y="2286000"/>
            <a:ext cx="194767" cy="246888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9335" y="2414016"/>
            <a:ext cx="264901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Data and ML engineers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9335" y="2852928"/>
            <a:ext cx="2649017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You built the RAG pipeline and the agent. This is what happens to it next, and what you'll be asked for.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286000"/>
            <a:ext cx="324612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C1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863840" y="2286000"/>
            <a:ext cx="194767" cy="246888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9775" y="2414016"/>
            <a:ext cx="264901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821"/>
                </a:solidFill>
                <a:latin typeface="Calibri"/>
              </a:rPr>
              <a:t>Anyone hiring for AI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9775" y="2852928"/>
            <a:ext cx="2649017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470"/>
                </a:solidFill>
                <a:latin typeface="Calibri"/>
              </a:rPr>
              <a:t>The job barely existed two years ago and now has more openings than people who can do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B6470"/>
                </a:solidFill>
                <a:latin typeface="Calibri"/>
              </a:rPr>
              <a:t>You need Python. You don't need a cloud account to finish most of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Data Victims  |  datavictims.io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full build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463040" cy="50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62179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5D9E0"/>
                </a:solidFill>
                <a:latin typeface="Calibri"/>
              </a:rPr>
              <a:t>Every chapter, every control, every command.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5D9E0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5D9E0"/>
                </a:solidFill>
                <a:latin typeface="Calibri"/>
              </a:rPr>
              <a:t>The full source, the attack suite, the evaluations, the Cloudflare Worker and the CI gate.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5D9E0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5D9E0"/>
                </a:solidFill>
                <a:latin typeface="Calibri"/>
              </a:rPr>
              <a:t>Every number was produced by a run you can repeat on your own machine, for nothing.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03120"/>
            <a:ext cx="3657600" cy="2377440"/>
          </a:xfrm>
          <a:prstGeom prst="round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89520" y="24688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$10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56616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one guide, the whole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D5D9E0"/>
                </a:solidFill>
                <a:latin typeface="Calibri"/>
              </a:rPr>
              <a:t>The video is free. The guide is how you build it yourself.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5D9E0"/>
                </a:solidFill>
                <a:latin typeface="Calibri"/>
              </a:rPr>
              <a:t>Data Victims  |  datavictims.io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D5D9E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41821"/>
                </a:solidFill>
                <a:latin typeface="Calibri"/>
              </a:rPr>
              <a:t>Build it. Break it. Then put Warden in front.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9C1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6858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B6470"/>
                </a:solidFill>
                <a:latin typeface="Calibri"/>
              </a:rPr>
              <a:t>Data Victims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B6470"/>
                </a:solidFill>
                <a:latin typeface="Calibri"/>
              </a:rPr>
              <a:t>datavictims.io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B647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B6470"/>
                </a:solidFill>
                <a:latin typeface="Calibri"/>
              </a:rPr>
              <a:t>YouTube, Upwork, Fiverr and LinkedIn are all linked from the site.</a:t>
            </a:r>
          </a:p>
        </p:txBody>
      </p:sp>
      <p:pic>
        <p:nvPicPr>
          <p:cNvPr id="6" name="Picture 5" descr="Haseeb form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377440"/>
            <a:ext cx="1775012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5257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21"/>
                </a:solidFill>
                <a:latin typeface="Calibri"/>
              </a:rPr>
              <a:t>Haseebullah Shaikh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21"/>
                </a:solidFill>
                <a:latin typeface="Calibri"/>
              </a:rPr>
              <a:t>Senior Data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Data Victims  |  datavictims.io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4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